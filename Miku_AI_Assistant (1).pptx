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2" r:id="rId10"/>
    <p:sldId id="264" r:id="rId11"/>
    <p:sldId id="267" r:id="rId12"/>
    <p:sldId id="266" r:id="rId13"/>
    <p:sldId id="269" r:id="rId14"/>
    <p:sldId id="272" r:id="rId15"/>
    <p:sldId id="265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7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28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67339" y="1045029"/>
            <a:ext cx="9025500" cy="2612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Miku AI Assistant</a:t>
            </a:r>
            <a:endParaRPr lang="en-US" sz="5400" dirty="0">
              <a:latin typeface="Algerian" panose="04020705040A02060702" pitchFamily="8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91272" y="3566160"/>
            <a:ext cx="79328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Multilingual (English · Hindi · Hinglish) Voice Assistant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8562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336792" y="1856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Key Design Decisions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27355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273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1600200" y="31546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32735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273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7132320" y="31546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Deep-Dive: Frontend, Backend, LLM, STT, TTS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69087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690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1600200" y="4572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&amp; Live Demo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080760" y="44348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46908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4690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7132320" y="4572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Results, Future Work 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What is Miku?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6035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>
              <a:lnSpc>
                <a:spcPts val="1950"/>
              </a:lnSpc>
              <a:spcAft>
                <a:spcPts val="1200"/>
              </a:spcAft>
            </a:pPr>
            <a:endParaRPr lang="en-US" sz="1600" dirty="0">
              <a:latin typeface="-apple-system"/>
            </a:endParaRPr>
          </a:p>
          <a:p>
            <a:pPr lvl="0" indent="-342900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inherit"/>
              </a:rPr>
              <a:t>Miku is a </a:t>
            </a:r>
            <a:r>
              <a:rPr lang="en-US" sz="1600" b="1" dirty="0">
                <a:latin typeface="inherit"/>
              </a:rPr>
              <a:t>fully offline</a:t>
            </a:r>
            <a:r>
              <a:rPr lang="en-US" sz="1600" dirty="0">
                <a:latin typeface="inherit"/>
              </a:rPr>
              <a:t>  AI voice assistant.</a:t>
            </a:r>
          </a:p>
          <a:p>
            <a:pPr lvl="0" indent="-342900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inherit"/>
            </a:endParaRPr>
          </a:p>
          <a:p>
            <a:pPr lvl="0" indent="-342900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inherit"/>
              </a:rPr>
              <a:t>Built for users who want </a:t>
            </a:r>
            <a:r>
              <a:rPr lang="en-US" sz="1600" b="1" dirty="0">
                <a:latin typeface="inherit"/>
              </a:rPr>
              <a:t>privacy-first</a:t>
            </a:r>
            <a:r>
              <a:rPr lang="en-US" sz="1600" dirty="0">
                <a:latin typeface="inherit"/>
              </a:rPr>
              <a:t> AI without  cloud APIs.</a:t>
            </a:r>
          </a:p>
          <a:p>
            <a:pPr lvl="0" indent="-342900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inherit"/>
            </a:endParaRPr>
          </a:p>
          <a:p>
            <a:pPr lvl="0" indent="-342900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inherit"/>
              </a:rPr>
              <a:t>Supports </a:t>
            </a:r>
            <a:r>
              <a:rPr lang="en-US" sz="1600" b="1" dirty="0">
                <a:latin typeface="inherit"/>
              </a:rPr>
              <a:t>Hindi, English, and Hinglish</a:t>
            </a:r>
            <a:r>
              <a:rPr lang="en-US" sz="1600" dirty="0">
                <a:latin typeface="inherit"/>
              </a:rPr>
              <a:t> (Roman Hindi) conversations.</a:t>
            </a:r>
          </a:p>
          <a:p>
            <a:pPr lvl="0" fontAlgn="base">
              <a:lnSpc>
                <a:spcPts val="1950"/>
              </a:lnSpc>
              <a:spcAft>
                <a:spcPts val="600"/>
              </a:spcAft>
            </a:pPr>
            <a:endParaRPr lang="en-US" sz="1600" dirty="0">
              <a:latin typeface="inherit"/>
            </a:endParaRPr>
          </a:p>
          <a:p>
            <a:pPr lvl="0" indent="-342900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inherit"/>
              </a:rPr>
              <a:t>Uses </a:t>
            </a:r>
            <a:r>
              <a:rPr lang="en-US" sz="1600" b="1" dirty="0">
                <a:latin typeface="inherit"/>
              </a:rPr>
              <a:t>voice input &amp; output</a:t>
            </a:r>
            <a:r>
              <a:rPr lang="en-US" sz="1600" dirty="0">
                <a:latin typeface="inherit"/>
              </a:rPr>
              <a:t> — speak naturally, get spoken replies.</a:t>
            </a:r>
          </a:p>
          <a:p>
            <a:pPr lvl="0" fontAlgn="base">
              <a:lnSpc>
                <a:spcPts val="1950"/>
              </a:lnSpc>
              <a:spcAft>
                <a:spcPts val="600"/>
              </a:spcAft>
            </a:pPr>
            <a:endParaRPr lang="en-US" sz="1600" dirty="0">
              <a:latin typeface="inherit"/>
            </a:endParaRPr>
          </a:p>
          <a:p>
            <a:pPr lvl="0" indent="-342900" fontAlgn="base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inherit"/>
              </a:rPr>
              <a:t>Runs entirely on a local machine using open-source models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16916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8013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809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Processing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3172968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328269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8096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4654296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476402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80960" y="54315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Replies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898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898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7448" y="2880360"/>
            <a:ext cx="2898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3383280"/>
            <a:ext cx="2898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86216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586216" y="2880360"/>
            <a:ext cx="2898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86216" y="3383280"/>
            <a:ext cx="2898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8C65B4C-969A-6B8C-6782-9D70CFC43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52640"/>
            <a:ext cx="11347892" cy="4131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AI chat powered by a local LLM (no cloud dependency)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508760" y="26334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(speech-to-text) and voice output (text-to-speech)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66674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508760" y="3529584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support: English, Hindi (Devanagari) and Hinglish (Roman → Devanagari)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628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62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508760" y="4425696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token-by-token streaming of replies for a responsive feel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4589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508760" y="532180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chat memory so conversations stay contextual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LLM Server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7040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Runs the AI model locally and provides responses to the application.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91840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290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Token Streaming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3429000"/>
            <a:ext cx="7040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tokens are streamed to the browser over a plain HTTP streaming response , giving a live 'typing' effect without extra infrastructure.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892040"/>
            <a:ext cx="109728" cy="14173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292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Hinglish-Aware TTS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5029200"/>
            <a:ext cx="7040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Romanized Hinglish text is converted to Devanagari with a phoneme-aware fallback before speech synthesis, for far more natural pronunciation.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352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Local LLM via llama.cpp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297680"/>
          </a:xfrm>
          <a:prstGeom prst="roundRect">
            <a:avLst>
              <a:gd name="adj" fmla="val 17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llama.cpp?
</a:t>
            </a:r>
            <a:r>
              <a:rPr lang="en-US" sz="1400" dirty="0"/>
              <a:t>An open-source tool that runs AI language models locally on your computer without using the internet.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/>
              <a:t>How it works in this project</a:t>
            </a:r>
          </a:p>
          <a:p>
            <a:r>
              <a:rPr lang="en-US" sz="1600" dirty="0"/>
              <a:t>The Flask backend sends user requests to the local llama.cpp server, which generates responses and sends them back to the application.</a:t>
            </a:r>
          </a:p>
          <a:p>
            <a:pPr>
              <a:lnSpc>
                <a:spcPct val="125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13203A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52360" y="21031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base_url="http://127.0.0.1:8080/v1",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api_key="dummy"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5236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(prompts.txt) defines Miku's personality &amp; instructions.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52360" y="4663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0.2 · max_tokens = 80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focused, concise replies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streaming endpoints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llama.cpp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0358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server, OpenAI-compatible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faster-whisper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0358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speech-to-text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Piper TTS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English voice synthesis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61772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indic_transliteration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 → Devanagari conversion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recording, streaming client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Frontend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03320" y="2148840"/>
            <a:ext cx="50292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17373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7373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/chat-stream · /speak · /transcribe · /history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2148840"/>
            <a:ext cx="50292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17373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13203A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7373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On-Device Services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20240" y="35661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3566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1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llama.cpp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streaming replies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2918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35661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3566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10" dirty="0"/>
          </a:p>
        </p:txBody>
      </p:sp>
      <p:sp>
        <p:nvSpPr>
          <p:cNvPr id="20" name="Text 18"/>
          <p:cNvSpPr/>
          <p:nvPr/>
        </p:nvSpPr>
        <p:spPr>
          <a:xfrm>
            <a:off x="4343400" y="45262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faster-whisper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4937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32918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9760" y="35661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3566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1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Piper TTS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49377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services run entirely on-device — no data ever leaves the machine.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UI Walkthrough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Chat Interface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3736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86600" y="18470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Bubbles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86600" y="22128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entry with a live typing indicator while tokens stream 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24612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86600" y="3355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Overlay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86600" y="37216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recording overlay with mic button and ripple animation.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475488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4864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Toggle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86600" y="52303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dark and light glassmorphism themes instantly.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F95EEE-77C0-9367-C2CA-F78762CF0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24" y="1243499"/>
            <a:ext cx="6379476" cy="51939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How Chat Streaming Works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Shape 4"/>
          <p:cNvSpPr/>
          <p:nvPr/>
        </p:nvSpPr>
        <p:spPr>
          <a:xfrm>
            <a:off x="1234440" y="173736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7373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generates the reply one token at a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100" y="2286000"/>
            <a:ext cx="0" cy="320040"/>
          </a:xfrm>
          <a:prstGeom prst="line">
            <a:avLst/>
          </a:prstGeom>
          <a:noFill/>
          <a:ln w="25400">
            <a:solidFill>
              <a:srgbClr val="DCE4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60604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generator (yield) forwards each token immediately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" y="3154680"/>
            <a:ext cx="0" cy="320040"/>
          </a:xfrm>
          <a:prstGeom prst="line">
            <a:avLst/>
          </a:prstGeom>
          <a:noFill/>
          <a:ln w="25400">
            <a:solidFill>
              <a:srgbClr val="DCE4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1234440" y="347472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34747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returns a streaming Response (mimetype text/plain)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0100" y="4023360"/>
            <a:ext cx="0" cy="320040"/>
          </a:xfrm>
          <a:prstGeom prst="line">
            <a:avLst/>
          </a:prstGeom>
          <a:noFill/>
          <a:ln w="25400">
            <a:solidFill>
              <a:srgbClr val="DCE4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1234440" y="434340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434340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reads the stream with the Fetch Reader API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0100" y="4892040"/>
            <a:ext cx="0" cy="320040"/>
          </a:xfrm>
          <a:prstGeom prst="line">
            <a:avLst/>
          </a:prstGeom>
          <a:noFill/>
          <a:ln w="25400">
            <a:solidFill>
              <a:srgbClr val="DCE4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6" name="Shape 24"/>
          <p:cNvSpPr/>
          <p:nvPr/>
        </p:nvSpPr>
        <p:spPr>
          <a:xfrm>
            <a:off x="1234440" y="521208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521208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appended to the chat bubble live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is plain HTTP streaming (Flask generator + Fetch Reader) — not SSE or WebSockets.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Flask Routes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3400" y="170992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2331720" cy="685800"/>
          </a:xfrm>
          <a:prstGeom prst="roundRect">
            <a:avLst>
              <a:gd name="adj" fmla="val 46667"/>
            </a:avLst>
          </a:prstGeom>
          <a:solidFill>
            <a:srgbClr val="1320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/chat-stream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73736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user message, streams LLM reply tokens back to the client, appends to chat memory.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127248"/>
            <a:ext cx="2331720" cy="685800"/>
          </a:xfrm>
          <a:prstGeom prst="roundRect">
            <a:avLst>
              <a:gd name="adj" fmla="val 46667"/>
            </a:avLst>
          </a:prstGeom>
          <a:solidFill>
            <a:srgbClr val="1320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944368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finished text into speech audio via Piper and returns a playable audio URL.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334256"/>
            <a:ext cx="2331720" cy="685800"/>
          </a:xfrm>
          <a:prstGeom prst="roundRect">
            <a:avLst>
              <a:gd name="adj" fmla="val 46667"/>
            </a:avLst>
          </a:prstGeom>
          <a:solidFill>
            <a:srgbClr val="1320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34256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/transcribe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4151376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recorded PCM audio, runs it through faster-whisper, returns the transcribed text.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5838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541264"/>
            <a:ext cx="2331720" cy="685800"/>
          </a:xfrm>
          <a:prstGeom prst="roundRect">
            <a:avLst>
              <a:gd name="adj" fmla="val 46667"/>
            </a:avLst>
          </a:prstGeom>
          <a:solidFill>
            <a:srgbClr val="1320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54126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5358384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returns the saved chat session (JSON) for the history panel.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Context &amp; Chat Memory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chat_history.json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+ assistant message pair is appended to a JSON file on disk — so memory survives server restarts.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4480560" cy="2194560"/>
          </a:xfrm>
          <a:prstGeom prst="roundRect">
            <a:avLst>
              <a:gd name="adj" fmla="val 2500"/>
            </a:avLst>
          </a:prstGeom>
          <a:solidFill>
            <a:srgbClr val="13203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0332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{"role":"user","content":"..."},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{"role":"assistant","content":"..."}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MAX_HISTORY_MESSAGES = 20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5146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20 messages (10 exchanges) are sent back to the LLM as context on every new request — keeping replies coherent without an unbounded prompt.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41148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[system_prompt]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chat_history[-20:]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[new_user_message]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TTS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Text-to-Speech with Piper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is a fast, fully offline TTS engine that uses lightweight ONNX voice models to synthesize natural-sounding speech.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🔊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hi_IN-priyamvada-medium.onnx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voice model — used for Hindi &amp; Hinglish (post-conversion) 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4231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🔊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en_GB-alba-medium.onnx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voice model — used for plain English replies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Voice Recording Pipeline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9822" y="23774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 Input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 captures raw microphone audio in the browser.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578608" y="3520440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2779776" y="23774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2871216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AudioContext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16936" y="3657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ScriptProcessorNode reads live audio samples as they arrive.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809744" y="3520440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0912" y="23774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42432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5102352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Downsample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48072" y="3657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are downsampled to exactly 16kHz — Whisper's required rate.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040880" y="3520440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9208" y="2377440"/>
            <a:ext cx="1737360" cy="2331720"/>
          </a:xfrm>
          <a:prstGeom prst="roundRect">
            <a:avLst>
              <a:gd name="adj" fmla="val 1608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73568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973568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7333488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16-bit PCM ( </a:t>
            </a:r>
            <a:r>
              <a:rPr lang="en-US" sz="1400" dirty="0"/>
              <a:t>Pulse Code Modulation)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79208" y="3657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samples are converted to 16-bit PCM before sending.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272016" y="3520440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9473184" y="23774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04704" y="260604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10204704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9564624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/transcribe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10344" y="3657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PCM bytes are sent to Flask for on-device transcription.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4864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5074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sending audio in the wrong sample rate / format is the #1 cause of garbled transcriptions.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STT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Speech-to-Text Pipeline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517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3529584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770632" y="26517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62072" y="26517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PCM Audio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64024" y="3529584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992624" y="26517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84064" y="26517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 'small', CPU, int8)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86016" y="3529584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7214616" y="26517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06056" y="26517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Language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08008" y="3529584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436608" y="26517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8048" y="26517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optimized implementation of OpenAI's Whisper model. The 'small' model with int8 quantization gives a good balance of accuracy and speed on CPU, with no GPU required.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TTS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Hinglish → Devanagari (Example)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3203A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(Roman)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"kaise ho aap"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90672" y="3337560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319272" y="210312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Hinglish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02152" y="2743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is_hinglish() finds known Hindi-in-Roman words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61304" y="3337560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9904" y="210312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 Transliterate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72784" y="2743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 → Devanagari conversion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31936" y="3337560"/>
            <a:ext cx="20116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860536" y="210312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3203A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43416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(Devanagari)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43416" y="2743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"कैसे हो आप"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7F5F0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07492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Hindi voice model pronounces this naturally — instead of an English engine mangling Romanized Hindi text.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TTS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Fallback for Unknown Words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a word isn't in the dictionary?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325880" y="262432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word's phonemes using the pronouncing library (CMU Pronouncing Dictionary)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41071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phoneme to Devanagari consonant/vowel characters using custom mapping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2394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1325880" y="40507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final Devanagari spelling letter-by-letter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3717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37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1325880" y="476402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word to unknown_words.log for future dictionary improvement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7373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3203A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mapping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24231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1B2B4A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788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क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89520" y="24231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1B2B4A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788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आ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69680" y="24231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1B2B4A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0" y="2788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149840" y="24231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1B2B4A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49840" y="2788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ट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9360" y="35661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 table (CONSONANTS) + vowel table (VOWELS) drive this letter-by-letter reconstruction — entirely custom logic written for this project.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End-to-End Flow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63824" y="2487168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20574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streams reply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07024" y="2487168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20574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updates live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50224" y="2487168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0574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speaks reply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63824" y="4178808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16kHz PCM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07024" y="4178808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transcribes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50224" y="4178808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6968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joins text-chat 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3203A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1206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minimize latency and keep every processing step fully local — nothing ever leaves the device.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Screenshots of chats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416052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29B3E2-4E30-518B-1D55-4AC72896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7439"/>
            <a:ext cx="7732922" cy="48862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Format Matching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9900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requires a precise sample rate &amp; PCM format — browser audio needed reliable resampling to 16kHz to avoid transcription errors.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73736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81728" y="274320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Responses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81728" y="3291840"/>
            <a:ext cx="29900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token-by-token LLM output with the frontend's live display required careful buffering in the Flask generator.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73736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049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40496" y="274320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Hinglish Pronunciation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40496" y="3291840"/>
            <a:ext cx="29900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Romanized Hindi spelling is inconsistent — built a phoneme-aware fallback to translate ambiguous inputs into Devanagari.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Results — What Works Well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5780" y="18608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182880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828800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English, Hindi, and Hinglish input reliably end-to-end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267004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2670048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replies stream live with no perceptible lag on typical text lengths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57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3511296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3511296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text is converted and spoken with noticeably improved pronunciation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398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4440" y="4352544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4352544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 persists correctly across app restarts (JSON-backed)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239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4440" y="5193792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63040" y="5193792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without any internet connection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Languages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Hindi/English to Bengali, Tamil, and other Indian languages with dialect-aware accents.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299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Storage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JSON history file with SQLite/Postgres for efficient, searchable chat storage.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788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TTS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speech synthesis so playback can begin before the full reply finishes generating.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8A9BA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7880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178040" y="4114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Client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Android/iOS app with embedded or companion local model execution.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515600" cy="0"/>
          </a:xfrm>
          <a:prstGeom prst="line">
            <a:avLst/>
          </a:prstGeom>
          <a:noFill/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402335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9FB3C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692301-2904-66F1-D5B1-47F2A342146B}"/>
              </a:ext>
            </a:extLst>
          </p:cNvPr>
          <p:cNvSpPr txBox="1"/>
          <p:nvPr/>
        </p:nvSpPr>
        <p:spPr>
          <a:xfrm>
            <a:off x="3284376" y="1791481"/>
            <a:ext cx="5861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AI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1583</Words>
  <Application>Microsoft Office PowerPoint</Application>
  <PresentationFormat>Widescreen</PresentationFormat>
  <Paragraphs>348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Algerian</vt:lpstr>
      <vt:lpstr>-apple-system</vt:lpstr>
      <vt:lpstr>Arial</vt:lpstr>
      <vt:lpstr>Calibri</vt:lpstr>
      <vt:lpstr>Cambria</vt:lpstr>
      <vt:lpstr>Consolas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HIMADRI</cp:lastModifiedBy>
  <cp:revision>4</cp:revision>
  <dcterms:created xsi:type="dcterms:W3CDTF">2026-08-07T03:02:38Z</dcterms:created>
  <dcterms:modified xsi:type="dcterms:W3CDTF">2026-08-07T11:05:40Z</dcterms:modified>
</cp:coreProperties>
</file>